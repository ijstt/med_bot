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2A699FA-B258-43E3-B450-01F1B25E5BA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78F6F1-77A1-4D62-BA3E-C200014F35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490553-7F4B-4BC5-BED2-AB4D29DB44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A0177A-4E98-415E-ABB4-7348752E78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4D1170-F533-46DB-8F18-44B68E334C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35DCE0-A7D6-4913-8218-4F643EBF83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4024080" y="192564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731520" y="3114720"/>
            <a:ext cx="642492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492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731520" y="3114720"/>
            <a:ext cx="642492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024080" y="192564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731520" y="311472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4024080" y="311472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31352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024080" y="1925640"/>
            <a:ext cx="31352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024080" y="1925640"/>
            <a:ext cx="31352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731520" y="311472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31352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024080" y="192564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024080" y="3114720"/>
            <a:ext cx="3135240" cy="108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131666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731520" y="4418640"/>
            <a:ext cx="1316664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7478280" y="4418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423900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183280" y="1925640"/>
            <a:ext cx="423900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9635040" y="1925640"/>
            <a:ext cx="423900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731520" y="4418640"/>
            <a:ext cx="423900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5183280" y="4418640"/>
            <a:ext cx="423900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9635040" y="4418640"/>
            <a:ext cx="423900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7478280" y="4418640"/>
            <a:ext cx="6424920" cy="22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320" cy="8228520"/>
          </a:xfrm>
          <a:prstGeom prst="rect">
            <a:avLst/>
          </a:prstGeom>
          <a:ln w="0">
            <a:noFill/>
          </a:ln>
        </p:spPr>
      </p:pic>
      <p:sp>
        <p:nvSpPr>
          <p:cNvPr id="69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000018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5485320" cy="8228520"/>
          </a:xfrm>
          <a:prstGeom prst="rect">
            <a:avLst/>
          </a:prstGeom>
          <a:ln w="0">
            <a:noFill/>
          </a:ln>
        </p:spPr>
      </p:pic>
      <p:sp>
        <p:nvSpPr>
          <p:cNvPr id="71" name="Text 1"/>
          <p:cNvSpPr/>
          <p:nvPr/>
        </p:nvSpPr>
        <p:spPr>
          <a:xfrm>
            <a:off x="6319440" y="2084760"/>
            <a:ext cx="7476480" cy="16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6562"/>
              </a:lnSpc>
              <a:tabLst>
                <a:tab algn="l" pos="0"/>
              </a:tabLst>
            </a:pPr>
            <a:r>
              <a:rPr b="0" lang="en-US" sz="5250" spc="-1" strike="noStrike">
                <a:solidFill>
                  <a:srgbClr val="ffffff"/>
                </a:solidFill>
                <a:latin typeface="Roboto"/>
                <a:ea typeface="Roboto"/>
              </a:rPr>
              <a:t>Медицинский чат-бот</a:t>
            </a:r>
            <a:endParaRPr b="0" lang="ru-RU" sz="5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6319440" y="4084560"/>
            <a:ext cx="7476480" cy="14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Медицинский чат-бот на Python для телеграмм предназначен для обеспечения быстрого и достоверного консультирования пациентов. Бот позволит получать информацию о заболеваниях, рекомендации по лечению и адреса больниц или медициеских мед учреждений.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3"/>
          <a:stretch/>
        </p:blipFill>
        <p:spPr>
          <a:xfrm>
            <a:off x="1260000" y="180000"/>
            <a:ext cx="4250520" cy="751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320" cy="8228520"/>
          </a:xfrm>
          <a:prstGeom prst="rect">
            <a:avLst/>
          </a:prstGeom>
          <a:ln w="0">
            <a:noFill/>
          </a:ln>
        </p:spPr>
      </p:pic>
      <p:sp>
        <p:nvSpPr>
          <p:cNvPr id="75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000018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2037960" y="2216880"/>
            <a:ext cx="555408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ffff"/>
                </a:solidFill>
                <a:latin typeface="Roboto"/>
                <a:ea typeface="Roboto"/>
              </a:rPr>
              <a:t>Основные функции</a:t>
            </a:r>
            <a:endParaRPr b="0" lang="ru-RU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2037960" y="3466440"/>
            <a:ext cx="2776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ffff"/>
                </a:solidFill>
                <a:latin typeface="Roboto"/>
                <a:ea typeface="Roboto"/>
              </a:rPr>
              <a:t>Консультирование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2037960" y="4035960"/>
            <a:ext cx="3155400" cy="17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Чат-бот предоставляет консультации по симптомам и подбор рекомендаций для первичной медицинской помощи.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743800" y="3466440"/>
            <a:ext cx="2776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ffff"/>
                </a:solidFill>
                <a:latin typeface="Roboto"/>
                <a:ea typeface="Roboto"/>
              </a:rPr>
              <a:t>Онлайн Запись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743800" y="4035960"/>
            <a:ext cx="3155400" cy="17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Пациенты могут записываться на консультации к врачу через чат-бот, выбирая удобное время приема.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9450000" y="3466440"/>
            <a:ext cx="2776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ffff"/>
                </a:solidFill>
                <a:latin typeface="Roboto"/>
                <a:ea typeface="Roboto"/>
              </a:rPr>
              <a:t>Больницы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9450000" y="4035960"/>
            <a:ext cx="3155400" cy="14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Чат-бот хранит базу данных больниц, где есть их адреса и контактная информация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320" cy="8228520"/>
          </a:xfrm>
          <a:prstGeom prst="rect">
            <a:avLst/>
          </a:prstGeom>
          <a:ln w="0">
            <a:noFill/>
          </a:ln>
        </p:spPr>
      </p:pic>
      <p:sp>
        <p:nvSpPr>
          <p:cNvPr id="84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000018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3656520" cy="8228520"/>
          </a:xfrm>
          <a:prstGeom prst="rect">
            <a:avLst/>
          </a:prstGeom>
          <a:ln w="0">
            <a:noFill/>
          </a:ln>
        </p:spPr>
      </p:pic>
      <p:sp>
        <p:nvSpPr>
          <p:cNvPr id="86" name="Text 1"/>
          <p:cNvSpPr/>
          <p:nvPr/>
        </p:nvSpPr>
        <p:spPr>
          <a:xfrm>
            <a:off x="4490640" y="1870920"/>
            <a:ext cx="716040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ffff"/>
                </a:solidFill>
                <a:latin typeface="Roboto"/>
                <a:ea typeface="Roboto"/>
              </a:rPr>
              <a:t>Технологии и инструменты</a:t>
            </a:r>
            <a:endParaRPr b="0" lang="ru-RU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4490640" y="3072240"/>
            <a:ext cx="498960" cy="498960"/>
          </a:xfrm>
          <a:prstGeom prst="roundRect">
            <a:avLst>
              <a:gd name="adj" fmla="val 20000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4646160" y="3114000"/>
            <a:ext cx="188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cfd0d8"/>
                </a:solidFill>
                <a:latin typeface="Roboto"/>
                <a:ea typeface="Roboto"/>
              </a:rPr>
              <a:t>1</a:t>
            </a:r>
            <a:endParaRPr b="0" lang="ru-RU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5212800" y="3148560"/>
            <a:ext cx="3526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cfd0d8"/>
                </a:solidFill>
                <a:latin typeface="Roboto"/>
                <a:ea typeface="Roboto"/>
              </a:rPr>
              <a:t>Библиотека Aiogram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5212800" y="3629160"/>
            <a:ext cx="38188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Чат-бот  написан на базе библиотеки Aiogram=2.25.2. 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9255240" y="3072240"/>
            <a:ext cx="498960" cy="498960"/>
          </a:xfrm>
          <a:prstGeom prst="roundRect">
            <a:avLst>
              <a:gd name="adj" fmla="val 20000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9410400" y="3114000"/>
            <a:ext cx="188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cfd0d8"/>
                </a:solidFill>
                <a:latin typeface="Roboto"/>
                <a:ea typeface="Roboto"/>
              </a:rPr>
              <a:t>2</a:t>
            </a:r>
            <a:endParaRPr b="0" lang="ru-RU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9977040" y="3148560"/>
            <a:ext cx="3713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cfd0d8"/>
                </a:solidFill>
                <a:latin typeface="Roboto"/>
                <a:ea typeface="Roboto"/>
              </a:rPr>
              <a:t>Интеграция с Базой Данных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9977040" y="3629160"/>
            <a:ext cx="38188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Поддерживает синхронизацию с медицинскими базами данных для точных рекомендаций.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4490640" y="5091120"/>
            <a:ext cx="498960" cy="498960"/>
          </a:xfrm>
          <a:prstGeom prst="roundRect">
            <a:avLst>
              <a:gd name="adj" fmla="val 20000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4646160" y="5132520"/>
            <a:ext cx="188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cfd0d8"/>
                </a:solidFill>
                <a:latin typeface="Roboto"/>
                <a:ea typeface="Roboto"/>
              </a:rPr>
              <a:t>3</a:t>
            </a:r>
            <a:endParaRPr b="0" lang="ru-RU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5212800" y="5167440"/>
            <a:ext cx="2776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cfd0d8"/>
                </a:solidFill>
                <a:latin typeface="Roboto"/>
                <a:ea typeface="Roboto"/>
              </a:rPr>
              <a:t>Защита Данных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5212800" y="5647680"/>
            <a:ext cx="858312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Применяются меры безопасности для обеспечения конфиденциальности персональной информации.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320" cy="8228520"/>
          </a:xfrm>
          <a:prstGeom prst="rect">
            <a:avLst/>
          </a:prstGeom>
          <a:ln w="0">
            <a:noFill/>
          </a:ln>
        </p:spPr>
      </p:pic>
      <p:sp>
        <p:nvSpPr>
          <p:cNvPr id="100" name="Shape 0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000018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2"/>
          <a:stretch/>
        </p:blipFill>
        <p:spPr>
          <a:xfrm>
            <a:off x="10972800" y="0"/>
            <a:ext cx="3656520" cy="8228520"/>
          </a:xfrm>
          <a:prstGeom prst="rect">
            <a:avLst/>
          </a:prstGeom>
          <a:ln w="0">
            <a:noFill/>
          </a:ln>
        </p:spPr>
      </p:pic>
      <p:sp>
        <p:nvSpPr>
          <p:cNvPr id="102" name="Text 1"/>
          <p:cNvSpPr/>
          <p:nvPr/>
        </p:nvSpPr>
        <p:spPr>
          <a:xfrm>
            <a:off x="833040" y="925560"/>
            <a:ext cx="555408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ffff"/>
                </a:solidFill>
                <a:latin typeface="Roboto"/>
                <a:ea typeface="Roboto"/>
              </a:rPr>
              <a:t>Будущее проекта</a:t>
            </a:r>
            <a:endParaRPr b="0" lang="ru-RU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1144440" y="1953000"/>
            <a:ext cx="43200" cy="5349960"/>
          </a:xfrm>
          <a:prstGeom prst="roundRect">
            <a:avLst>
              <a:gd name="adj" fmla="val 225151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1416600" y="2354400"/>
            <a:ext cx="776520" cy="43200"/>
          </a:xfrm>
          <a:prstGeom prst="roundRect">
            <a:avLst>
              <a:gd name="adj" fmla="val 225151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040" bIns="-140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916560" y="2126520"/>
            <a:ext cx="498960" cy="498960"/>
          </a:xfrm>
          <a:prstGeom prst="roundRect">
            <a:avLst>
              <a:gd name="adj" fmla="val 20000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071720" y="2168280"/>
            <a:ext cx="188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cfd0d8"/>
                </a:solidFill>
                <a:latin typeface="Roboto"/>
                <a:ea typeface="Roboto"/>
              </a:rPr>
              <a:t>1</a:t>
            </a:r>
            <a:endParaRPr b="0" lang="ru-RU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2388600" y="2175120"/>
            <a:ext cx="3473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cfd0d8"/>
                </a:solidFill>
                <a:latin typeface="Roboto"/>
                <a:ea typeface="Roboto"/>
              </a:rPr>
              <a:t>Расширение Функционала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2388600" y="2655720"/>
            <a:ext cx="77500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Постоянное обновление функций и возможностей для предоставления более полноценной медицинской помощи.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1416600" y="4212000"/>
            <a:ext cx="776520" cy="43200"/>
          </a:xfrm>
          <a:prstGeom prst="roundRect">
            <a:avLst>
              <a:gd name="adj" fmla="val 225151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040" bIns="-140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916560" y="3984480"/>
            <a:ext cx="498960" cy="498960"/>
          </a:xfrm>
          <a:prstGeom prst="roundRect">
            <a:avLst>
              <a:gd name="adj" fmla="val 20000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1071720" y="4026240"/>
            <a:ext cx="188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cfd0d8"/>
                </a:solidFill>
                <a:latin typeface="Roboto"/>
                <a:ea typeface="Roboto"/>
              </a:rPr>
              <a:t>2</a:t>
            </a:r>
            <a:endParaRPr b="0" lang="ru-RU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2388600" y="4033080"/>
            <a:ext cx="3689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cfd0d8"/>
                </a:solidFill>
                <a:latin typeface="Roboto"/>
                <a:ea typeface="Roboto"/>
              </a:rPr>
              <a:t>Мультиязычная Поддержка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2388600" y="4513320"/>
            <a:ext cx="77500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Добавление поддержки нескольких языков для увеличения охвата пользователей по всему миру.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1416600" y="6069960"/>
            <a:ext cx="776520" cy="43200"/>
          </a:xfrm>
          <a:prstGeom prst="roundRect">
            <a:avLst>
              <a:gd name="adj" fmla="val 225151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040" bIns="-1404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916560" y="5842080"/>
            <a:ext cx="498960" cy="498960"/>
          </a:xfrm>
          <a:prstGeom prst="roundRect">
            <a:avLst>
              <a:gd name="adj" fmla="val 20000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1071720" y="5883840"/>
            <a:ext cx="18828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cfd0d8"/>
                </a:solidFill>
                <a:latin typeface="Roboto"/>
                <a:ea typeface="Roboto"/>
              </a:rPr>
              <a:t>3</a:t>
            </a:r>
            <a:endParaRPr b="0" lang="ru-RU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2388600" y="5890680"/>
            <a:ext cx="402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cfd0d8"/>
                </a:solidFill>
                <a:latin typeface="Roboto"/>
                <a:ea typeface="Roboto"/>
              </a:rPr>
              <a:t>Интеграция с нейросетями</a:t>
            </a:r>
            <a:endParaRPr b="0" lang="ru-RU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2388600" y="6371280"/>
            <a:ext cx="77500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Это позволит давать более точные рекомендации по самолечению</a:t>
            </a:r>
            <a:endParaRPr b="0" lang="ru-RU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 2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320" cy="8228520"/>
          </a:xfrm>
          <a:prstGeom prst="rect">
            <a:avLst/>
          </a:prstGeom>
          <a:ln w="0">
            <a:noFill/>
          </a:ln>
        </p:spPr>
      </p:pic>
      <p:sp>
        <p:nvSpPr>
          <p:cNvPr id="120" name="Shape 1"/>
          <p:cNvSpPr/>
          <p:nvPr/>
        </p:nvSpPr>
        <p:spPr>
          <a:xfrm>
            <a:off x="0" y="0"/>
            <a:ext cx="14629320" cy="8228520"/>
          </a:xfrm>
          <a:prstGeom prst="rect">
            <a:avLst/>
          </a:prstGeom>
          <a:solidFill>
            <a:srgbClr val="000018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3240000" y="-720"/>
            <a:ext cx="8093880" cy="822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LibreOffice/7.6.5.2$Linux_X86_64 LibreOffice_project/60$Build-2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2024-03-26T07:23:10Z</dcterms:created>
  <dc:creator>PptxGenJS</dc:creator>
  <dc:description/>
  <dc:language>ru-RU</dc:language>
  <cp:lastModifiedBy/>
  <dcterms:modified xsi:type="dcterms:W3CDTF">2024-05-07T18:20:12Z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